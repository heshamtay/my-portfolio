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sldIdLst>
    <p:sldId id="256" r:id="rId2"/>
    <p:sldId id="257" r:id="rId3"/>
    <p:sldId id="273" r:id="rId4"/>
    <p:sldId id="260" r:id="rId5"/>
    <p:sldId id="259" r:id="rId6"/>
    <p:sldId id="261" r:id="rId7"/>
    <p:sldId id="262" r:id="rId8"/>
    <p:sldId id="264" r:id="rId9"/>
    <p:sldId id="271" r:id="rId10"/>
    <p:sldId id="263" r:id="rId11"/>
    <p:sldId id="270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AF28CB-927F-4936-9AF3-E145DD80CFBF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DE9DB4-C534-473A-A99A-B7111B55BF7E}" type="pres">
      <dgm:prSet presAssocID="{AEAF28CB-927F-4936-9AF3-E145DD80CFBF}" presName="Name0" presStyleCnt="0">
        <dgm:presLayoutVars>
          <dgm:dir/>
          <dgm:resizeHandles val="exact"/>
        </dgm:presLayoutVars>
      </dgm:prSet>
      <dgm:spPr/>
    </dgm:pt>
  </dgm:ptLst>
  <dgm:cxnLst>
    <dgm:cxn modelId="{21598A5D-88E1-4DB1-BECB-51FBFFCA2BC1}" type="presOf" srcId="{AEAF28CB-927F-4936-9AF3-E145DD80CFBF}" destId="{DBDE9DB4-C534-473A-A99A-B7111B55BF7E}" srcOrd="0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168F89-0583-47D9-AB29-F1CA21BAB6D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874FEB-E618-41EB-BEDC-A269351E1F6B}">
      <dgm:prSet phldrT="[Text]" custT="1"/>
      <dgm:spPr>
        <a:noFill/>
      </dgm:spPr>
      <dgm:t>
        <a:bodyPr/>
        <a:lstStyle/>
        <a:p>
          <a:r>
            <a:rPr lang="en-US" sz="3000" b="0" i="0" dirty="0"/>
            <a:t>Number of Transactions</a:t>
          </a:r>
        </a:p>
        <a:p>
          <a:r>
            <a:rPr lang="en-US" sz="3000" b="0" i="0" dirty="0"/>
            <a:t>139</a:t>
          </a:r>
          <a:endParaRPr lang="en-US" sz="3000" dirty="0"/>
        </a:p>
      </dgm:t>
    </dgm:pt>
    <dgm:pt modelId="{59FA89A6-F75D-40AC-9C44-DA4F908D1EDD}" type="parTrans" cxnId="{AAC76C77-C7D7-4226-919A-5E934B00618B}">
      <dgm:prSet/>
      <dgm:spPr/>
      <dgm:t>
        <a:bodyPr/>
        <a:lstStyle/>
        <a:p>
          <a:endParaRPr lang="en-US"/>
        </a:p>
      </dgm:t>
    </dgm:pt>
    <dgm:pt modelId="{BCFB9D4E-A1C8-47AA-86DA-EE07CF3AD7F6}" type="sibTrans" cxnId="{AAC76C77-C7D7-4226-919A-5E934B00618B}">
      <dgm:prSet/>
      <dgm:spPr/>
      <dgm:t>
        <a:bodyPr/>
        <a:lstStyle/>
        <a:p>
          <a:endParaRPr lang="en-US"/>
        </a:p>
      </dgm:t>
    </dgm:pt>
    <dgm:pt modelId="{9830C373-7944-498C-BCDF-32F2BD4CCDD0}">
      <dgm:prSet phldrT="[Text]" custT="1"/>
      <dgm:spPr>
        <a:noFill/>
      </dgm:spPr>
      <dgm:t>
        <a:bodyPr/>
        <a:lstStyle/>
        <a:p>
          <a:r>
            <a:rPr lang="en-US" sz="3000" dirty="0"/>
            <a:t>Number of Selling Items</a:t>
          </a:r>
        </a:p>
        <a:p>
          <a:r>
            <a:rPr lang="en-US" sz="3000" dirty="0"/>
            <a:t>15</a:t>
          </a:r>
        </a:p>
      </dgm:t>
    </dgm:pt>
    <dgm:pt modelId="{92772FD4-E445-4913-B016-C585A49EB65C}" type="parTrans" cxnId="{03275DD2-C764-405F-950D-89D0FFD748B3}">
      <dgm:prSet/>
      <dgm:spPr/>
      <dgm:t>
        <a:bodyPr/>
        <a:lstStyle/>
        <a:p>
          <a:endParaRPr lang="en-US"/>
        </a:p>
      </dgm:t>
    </dgm:pt>
    <dgm:pt modelId="{CC7273CD-F779-4568-B726-0756FA617EFF}" type="sibTrans" cxnId="{03275DD2-C764-405F-950D-89D0FFD748B3}">
      <dgm:prSet/>
      <dgm:spPr/>
      <dgm:t>
        <a:bodyPr/>
        <a:lstStyle/>
        <a:p>
          <a:endParaRPr lang="en-US"/>
        </a:p>
      </dgm:t>
    </dgm:pt>
    <dgm:pt modelId="{1A9BAF0A-9E9B-4B3C-946C-699F2DFE37B2}">
      <dgm:prSet phldrT="[Text]" custT="1"/>
      <dgm:spPr>
        <a:noFill/>
      </dgm:spPr>
      <dgm:t>
        <a:bodyPr/>
        <a:lstStyle/>
        <a:p>
          <a:pPr rtl="0"/>
          <a:r>
            <a:rPr lang="en-US" sz="3000" dirty="0"/>
            <a:t> Total Sales Amount</a:t>
          </a:r>
        </a:p>
        <a:p>
          <a:r>
            <a:rPr lang="en-US" sz="3000" b="0" i="0" dirty="0"/>
            <a:t>1,176,853</a:t>
          </a:r>
          <a:endParaRPr lang="en-US" sz="3000" dirty="0"/>
        </a:p>
      </dgm:t>
    </dgm:pt>
    <dgm:pt modelId="{B9F3AFDC-7B1E-4C5E-92B2-673E6647DA97}" type="parTrans" cxnId="{191CDF5A-3CAC-4DFF-91B7-8B2210F4D757}">
      <dgm:prSet/>
      <dgm:spPr/>
      <dgm:t>
        <a:bodyPr/>
        <a:lstStyle/>
        <a:p>
          <a:endParaRPr lang="en-US"/>
        </a:p>
      </dgm:t>
    </dgm:pt>
    <dgm:pt modelId="{8EA9D82C-6EE6-487D-98A6-BF9DB207B15E}" type="sibTrans" cxnId="{191CDF5A-3CAC-4DFF-91B7-8B2210F4D757}">
      <dgm:prSet/>
      <dgm:spPr/>
      <dgm:t>
        <a:bodyPr/>
        <a:lstStyle/>
        <a:p>
          <a:endParaRPr lang="en-US"/>
        </a:p>
      </dgm:t>
    </dgm:pt>
    <dgm:pt modelId="{78CAA27E-340B-466B-96F2-162DEF4E5B9D}">
      <dgm:prSet phldrT="[Text]" custT="1"/>
      <dgm:spPr>
        <a:noFill/>
      </dgm:spPr>
      <dgm:t>
        <a:bodyPr/>
        <a:lstStyle/>
        <a:p>
          <a:r>
            <a:rPr lang="en-US" sz="3000" b="0" i="0" dirty="0"/>
            <a:t>Total Quantity of Items Sold</a:t>
          </a:r>
        </a:p>
        <a:p>
          <a:r>
            <a:rPr lang="en-US" sz="3000" b="0" i="0" dirty="0"/>
            <a:t>51,187</a:t>
          </a:r>
          <a:endParaRPr lang="en-US" sz="3000" dirty="0"/>
        </a:p>
      </dgm:t>
    </dgm:pt>
    <dgm:pt modelId="{CCFA30DC-0A1C-449C-AF2C-10718EAB700E}" type="parTrans" cxnId="{9CA96C72-DC4D-4C87-ACEF-825691F10F05}">
      <dgm:prSet/>
      <dgm:spPr/>
      <dgm:t>
        <a:bodyPr/>
        <a:lstStyle/>
        <a:p>
          <a:endParaRPr lang="en-US"/>
        </a:p>
      </dgm:t>
    </dgm:pt>
    <dgm:pt modelId="{16609F77-FCEF-4F41-9A44-13423B0DD0E6}" type="sibTrans" cxnId="{9CA96C72-DC4D-4C87-ACEF-825691F10F05}">
      <dgm:prSet/>
      <dgm:spPr/>
      <dgm:t>
        <a:bodyPr/>
        <a:lstStyle/>
        <a:p>
          <a:endParaRPr lang="en-US"/>
        </a:p>
      </dgm:t>
    </dgm:pt>
    <dgm:pt modelId="{95DC1B86-BF4C-4C17-B802-2C4DD7DBC520}">
      <dgm:prSet phldrT="[Text]" custT="1"/>
      <dgm:spPr>
        <a:noFill/>
      </dgm:spPr>
      <dgm:t>
        <a:bodyPr/>
        <a:lstStyle/>
        <a:p>
          <a:r>
            <a:rPr lang="en-US" sz="3000" b="0" i="0" dirty="0"/>
            <a:t>Products with Zero Sales</a:t>
          </a:r>
        </a:p>
        <a:p>
          <a:r>
            <a:rPr lang="en-US" sz="3000" b="0" i="0" dirty="0"/>
            <a:t>0</a:t>
          </a:r>
          <a:endParaRPr lang="en-US" sz="3000" dirty="0"/>
        </a:p>
      </dgm:t>
    </dgm:pt>
    <dgm:pt modelId="{EE421245-DA78-4C9D-BE04-E73FC08B71DA}" type="parTrans" cxnId="{1B798670-FA66-4ACC-8E0C-7A923D50198A}">
      <dgm:prSet/>
      <dgm:spPr/>
      <dgm:t>
        <a:bodyPr/>
        <a:lstStyle/>
        <a:p>
          <a:endParaRPr lang="en-US"/>
        </a:p>
      </dgm:t>
    </dgm:pt>
    <dgm:pt modelId="{74FCA442-F253-45F0-B8F5-6630F4DB8BE5}" type="sibTrans" cxnId="{1B798670-FA66-4ACC-8E0C-7A923D50198A}">
      <dgm:prSet/>
      <dgm:spPr/>
      <dgm:t>
        <a:bodyPr/>
        <a:lstStyle/>
        <a:p>
          <a:endParaRPr lang="en-US"/>
        </a:p>
      </dgm:t>
    </dgm:pt>
    <dgm:pt modelId="{29792231-7BA9-42D9-8ED1-4AAF6E016298}">
      <dgm:prSet phldrT="[Text]" custT="1"/>
      <dgm:spPr>
        <a:noFill/>
      </dgm:spPr>
      <dgm:t>
        <a:bodyPr/>
        <a:lstStyle/>
        <a:p>
          <a:r>
            <a:rPr lang="en-US" sz="3000" b="0" i="0" dirty="0"/>
            <a:t> Products with Negative Sales</a:t>
          </a:r>
        </a:p>
        <a:p>
          <a:r>
            <a:rPr lang="en-US" sz="3000" b="0" i="0" dirty="0"/>
            <a:t>0</a:t>
          </a:r>
          <a:endParaRPr lang="en-US" sz="3000" dirty="0"/>
        </a:p>
      </dgm:t>
    </dgm:pt>
    <dgm:pt modelId="{882404FA-2022-4D88-9592-FE5DF411C160}" type="parTrans" cxnId="{94A056B4-B13E-4ED9-B85B-46E5A1219F09}">
      <dgm:prSet/>
      <dgm:spPr/>
      <dgm:t>
        <a:bodyPr/>
        <a:lstStyle/>
        <a:p>
          <a:endParaRPr lang="en-US"/>
        </a:p>
      </dgm:t>
    </dgm:pt>
    <dgm:pt modelId="{1F6E56B7-1501-4533-89B2-B8C49A6BE0F8}" type="sibTrans" cxnId="{94A056B4-B13E-4ED9-B85B-46E5A1219F09}">
      <dgm:prSet/>
      <dgm:spPr/>
      <dgm:t>
        <a:bodyPr/>
        <a:lstStyle/>
        <a:p>
          <a:endParaRPr lang="en-US"/>
        </a:p>
      </dgm:t>
    </dgm:pt>
    <dgm:pt modelId="{B60A1295-524B-4A1A-8F3B-D4C2220498A9}" type="pres">
      <dgm:prSet presAssocID="{40168F89-0583-47D9-AB29-F1CA21BAB6D9}" presName="diagram" presStyleCnt="0">
        <dgm:presLayoutVars>
          <dgm:dir/>
          <dgm:resizeHandles val="exact"/>
        </dgm:presLayoutVars>
      </dgm:prSet>
      <dgm:spPr/>
    </dgm:pt>
    <dgm:pt modelId="{8027A944-1C66-4310-9B26-7AB111AD8067}" type="pres">
      <dgm:prSet presAssocID="{74874FEB-E618-41EB-BEDC-A269351E1F6B}" presName="node" presStyleLbl="node1" presStyleIdx="0" presStyleCnt="6" custLinFactNeighborX="3656" custLinFactNeighborY="1149">
        <dgm:presLayoutVars>
          <dgm:bulletEnabled val="1"/>
        </dgm:presLayoutVars>
      </dgm:prSet>
      <dgm:spPr/>
    </dgm:pt>
    <dgm:pt modelId="{1E34A89A-9648-432D-BC79-B8DD95AC67E6}" type="pres">
      <dgm:prSet presAssocID="{BCFB9D4E-A1C8-47AA-86DA-EE07CF3AD7F6}" presName="sibTrans" presStyleCnt="0"/>
      <dgm:spPr/>
    </dgm:pt>
    <dgm:pt modelId="{737749AB-FEDD-49F8-BFE5-9FBCBD597FB5}" type="pres">
      <dgm:prSet presAssocID="{9830C373-7944-498C-BCDF-32F2BD4CCDD0}" presName="node" presStyleLbl="node1" presStyleIdx="1" presStyleCnt="6">
        <dgm:presLayoutVars>
          <dgm:bulletEnabled val="1"/>
        </dgm:presLayoutVars>
      </dgm:prSet>
      <dgm:spPr/>
    </dgm:pt>
    <dgm:pt modelId="{A661411F-3C51-4258-8CFE-E2A301798B79}" type="pres">
      <dgm:prSet presAssocID="{CC7273CD-F779-4568-B726-0756FA617EFF}" presName="sibTrans" presStyleCnt="0"/>
      <dgm:spPr/>
    </dgm:pt>
    <dgm:pt modelId="{A6690E3C-8F4C-4EF0-B13F-5486718B5DD2}" type="pres">
      <dgm:prSet presAssocID="{1A9BAF0A-9E9B-4B3C-946C-699F2DFE37B2}" presName="node" presStyleLbl="node1" presStyleIdx="2" presStyleCnt="6">
        <dgm:presLayoutVars>
          <dgm:bulletEnabled val="1"/>
        </dgm:presLayoutVars>
      </dgm:prSet>
      <dgm:spPr/>
    </dgm:pt>
    <dgm:pt modelId="{EDD47B7E-3297-4CA7-B94D-C4815E8AAF5A}" type="pres">
      <dgm:prSet presAssocID="{8EA9D82C-6EE6-487D-98A6-BF9DB207B15E}" presName="sibTrans" presStyleCnt="0"/>
      <dgm:spPr/>
    </dgm:pt>
    <dgm:pt modelId="{BBA3BD9F-FB18-4FF6-9356-7E97363A9B57}" type="pres">
      <dgm:prSet presAssocID="{78CAA27E-340B-466B-96F2-162DEF4E5B9D}" presName="node" presStyleLbl="node1" presStyleIdx="3" presStyleCnt="6" custLinFactNeighborX="2192" custLinFactNeighborY="-4302">
        <dgm:presLayoutVars>
          <dgm:bulletEnabled val="1"/>
        </dgm:presLayoutVars>
      </dgm:prSet>
      <dgm:spPr/>
    </dgm:pt>
    <dgm:pt modelId="{3DA0656C-9DAF-49CA-9FC6-B468F840019C}" type="pres">
      <dgm:prSet presAssocID="{16609F77-FCEF-4F41-9A44-13423B0DD0E6}" presName="sibTrans" presStyleCnt="0"/>
      <dgm:spPr/>
    </dgm:pt>
    <dgm:pt modelId="{473E5E46-626F-41CC-98E1-B67EA5D23102}" type="pres">
      <dgm:prSet presAssocID="{95DC1B86-BF4C-4C17-B802-2C4DD7DBC520}" presName="node" presStyleLbl="node1" presStyleIdx="4" presStyleCnt="6" custLinFactNeighborX="525" custLinFactNeighborY="-2778">
        <dgm:presLayoutVars>
          <dgm:bulletEnabled val="1"/>
        </dgm:presLayoutVars>
      </dgm:prSet>
      <dgm:spPr/>
    </dgm:pt>
    <dgm:pt modelId="{5FCB353A-2E52-46B5-8DA9-A044B71F4B18}" type="pres">
      <dgm:prSet presAssocID="{74FCA442-F253-45F0-B8F5-6630F4DB8BE5}" presName="sibTrans" presStyleCnt="0"/>
      <dgm:spPr/>
    </dgm:pt>
    <dgm:pt modelId="{1FDC3384-ECBE-4AD7-8409-952C0D6F5323}" type="pres">
      <dgm:prSet presAssocID="{29792231-7BA9-42D9-8ED1-4AAF6E016298}" presName="node" presStyleLbl="node1" presStyleIdx="5" presStyleCnt="6" custLinFactNeighborX="55525" custLinFactNeighborY="-3585">
        <dgm:presLayoutVars>
          <dgm:bulletEnabled val="1"/>
        </dgm:presLayoutVars>
      </dgm:prSet>
      <dgm:spPr/>
    </dgm:pt>
  </dgm:ptLst>
  <dgm:cxnLst>
    <dgm:cxn modelId="{2DEFF612-BA38-4E12-B250-5BE09B7CE41C}" type="presOf" srcId="{29792231-7BA9-42D9-8ED1-4AAF6E016298}" destId="{1FDC3384-ECBE-4AD7-8409-952C0D6F5323}" srcOrd="0" destOrd="0" presId="urn:microsoft.com/office/officeart/2005/8/layout/default"/>
    <dgm:cxn modelId="{F6AEB713-AF44-4D3C-9E9E-E43F5EBA84C8}" type="presOf" srcId="{74874FEB-E618-41EB-BEDC-A269351E1F6B}" destId="{8027A944-1C66-4310-9B26-7AB111AD8067}" srcOrd="0" destOrd="0" presId="urn:microsoft.com/office/officeart/2005/8/layout/default"/>
    <dgm:cxn modelId="{1CE8BD49-5917-4734-979C-9D36A0C18D98}" type="presOf" srcId="{9830C373-7944-498C-BCDF-32F2BD4CCDD0}" destId="{737749AB-FEDD-49F8-BFE5-9FBCBD597FB5}" srcOrd="0" destOrd="0" presId="urn:microsoft.com/office/officeart/2005/8/layout/default"/>
    <dgm:cxn modelId="{2D53AE4C-220F-4F7F-86B0-4A45D29B01CF}" type="presOf" srcId="{95DC1B86-BF4C-4C17-B802-2C4DD7DBC520}" destId="{473E5E46-626F-41CC-98E1-B67EA5D23102}" srcOrd="0" destOrd="0" presId="urn:microsoft.com/office/officeart/2005/8/layout/default"/>
    <dgm:cxn modelId="{1B798670-FA66-4ACC-8E0C-7A923D50198A}" srcId="{40168F89-0583-47D9-AB29-F1CA21BAB6D9}" destId="{95DC1B86-BF4C-4C17-B802-2C4DD7DBC520}" srcOrd="4" destOrd="0" parTransId="{EE421245-DA78-4C9D-BE04-E73FC08B71DA}" sibTransId="{74FCA442-F253-45F0-B8F5-6630F4DB8BE5}"/>
    <dgm:cxn modelId="{9CA96C72-DC4D-4C87-ACEF-825691F10F05}" srcId="{40168F89-0583-47D9-AB29-F1CA21BAB6D9}" destId="{78CAA27E-340B-466B-96F2-162DEF4E5B9D}" srcOrd="3" destOrd="0" parTransId="{CCFA30DC-0A1C-449C-AF2C-10718EAB700E}" sibTransId="{16609F77-FCEF-4F41-9A44-13423B0DD0E6}"/>
    <dgm:cxn modelId="{AAC76C77-C7D7-4226-919A-5E934B00618B}" srcId="{40168F89-0583-47D9-AB29-F1CA21BAB6D9}" destId="{74874FEB-E618-41EB-BEDC-A269351E1F6B}" srcOrd="0" destOrd="0" parTransId="{59FA89A6-F75D-40AC-9C44-DA4F908D1EDD}" sibTransId="{BCFB9D4E-A1C8-47AA-86DA-EE07CF3AD7F6}"/>
    <dgm:cxn modelId="{191CDF5A-3CAC-4DFF-91B7-8B2210F4D757}" srcId="{40168F89-0583-47D9-AB29-F1CA21BAB6D9}" destId="{1A9BAF0A-9E9B-4B3C-946C-699F2DFE37B2}" srcOrd="2" destOrd="0" parTransId="{B9F3AFDC-7B1E-4C5E-92B2-673E6647DA97}" sibTransId="{8EA9D82C-6EE6-487D-98A6-BF9DB207B15E}"/>
    <dgm:cxn modelId="{94A056B4-B13E-4ED9-B85B-46E5A1219F09}" srcId="{40168F89-0583-47D9-AB29-F1CA21BAB6D9}" destId="{29792231-7BA9-42D9-8ED1-4AAF6E016298}" srcOrd="5" destOrd="0" parTransId="{882404FA-2022-4D88-9592-FE5DF411C160}" sibTransId="{1F6E56B7-1501-4533-89B2-B8C49A6BE0F8}"/>
    <dgm:cxn modelId="{03275DD2-C764-405F-950D-89D0FFD748B3}" srcId="{40168F89-0583-47D9-AB29-F1CA21BAB6D9}" destId="{9830C373-7944-498C-BCDF-32F2BD4CCDD0}" srcOrd="1" destOrd="0" parTransId="{92772FD4-E445-4913-B016-C585A49EB65C}" sibTransId="{CC7273CD-F779-4568-B726-0756FA617EFF}"/>
    <dgm:cxn modelId="{DA31F6DD-031D-45D5-82FD-EF12424E3582}" type="presOf" srcId="{78CAA27E-340B-466B-96F2-162DEF4E5B9D}" destId="{BBA3BD9F-FB18-4FF6-9356-7E97363A9B57}" srcOrd="0" destOrd="0" presId="urn:microsoft.com/office/officeart/2005/8/layout/default"/>
    <dgm:cxn modelId="{03309DE0-BCF4-45B9-8A41-BB5081FD0E7A}" type="presOf" srcId="{1A9BAF0A-9E9B-4B3C-946C-699F2DFE37B2}" destId="{A6690E3C-8F4C-4EF0-B13F-5486718B5DD2}" srcOrd="0" destOrd="0" presId="urn:microsoft.com/office/officeart/2005/8/layout/default"/>
    <dgm:cxn modelId="{612CBCFB-E7BC-456D-9595-0A1C6A066073}" type="presOf" srcId="{40168F89-0583-47D9-AB29-F1CA21BAB6D9}" destId="{B60A1295-524B-4A1A-8F3B-D4C2220498A9}" srcOrd="0" destOrd="0" presId="urn:microsoft.com/office/officeart/2005/8/layout/default"/>
    <dgm:cxn modelId="{068BE6BB-5490-4A4A-B514-DA7C4FE7D118}" type="presParOf" srcId="{B60A1295-524B-4A1A-8F3B-D4C2220498A9}" destId="{8027A944-1C66-4310-9B26-7AB111AD8067}" srcOrd="0" destOrd="0" presId="urn:microsoft.com/office/officeart/2005/8/layout/default"/>
    <dgm:cxn modelId="{450C686F-744A-4331-8FC6-E8F229F7E110}" type="presParOf" srcId="{B60A1295-524B-4A1A-8F3B-D4C2220498A9}" destId="{1E34A89A-9648-432D-BC79-B8DD95AC67E6}" srcOrd="1" destOrd="0" presId="urn:microsoft.com/office/officeart/2005/8/layout/default"/>
    <dgm:cxn modelId="{7BD524FB-C7F0-450C-A24E-2A5028963730}" type="presParOf" srcId="{B60A1295-524B-4A1A-8F3B-D4C2220498A9}" destId="{737749AB-FEDD-49F8-BFE5-9FBCBD597FB5}" srcOrd="2" destOrd="0" presId="urn:microsoft.com/office/officeart/2005/8/layout/default"/>
    <dgm:cxn modelId="{62F44DAA-4B59-42F8-B324-1F43F55FAB88}" type="presParOf" srcId="{B60A1295-524B-4A1A-8F3B-D4C2220498A9}" destId="{A661411F-3C51-4258-8CFE-E2A301798B79}" srcOrd="3" destOrd="0" presId="urn:microsoft.com/office/officeart/2005/8/layout/default"/>
    <dgm:cxn modelId="{DBA78B35-AF84-4E3A-BF53-E3C5BB81A79C}" type="presParOf" srcId="{B60A1295-524B-4A1A-8F3B-D4C2220498A9}" destId="{A6690E3C-8F4C-4EF0-B13F-5486718B5DD2}" srcOrd="4" destOrd="0" presId="urn:microsoft.com/office/officeart/2005/8/layout/default"/>
    <dgm:cxn modelId="{7380DE55-979A-499F-B0E2-3261D6CE7C2E}" type="presParOf" srcId="{B60A1295-524B-4A1A-8F3B-D4C2220498A9}" destId="{EDD47B7E-3297-4CA7-B94D-C4815E8AAF5A}" srcOrd="5" destOrd="0" presId="urn:microsoft.com/office/officeart/2005/8/layout/default"/>
    <dgm:cxn modelId="{0414B1ED-007B-43BF-AC81-71768799CAB0}" type="presParOf" srcId="{B60A1295-524B-4A1A-8F3B-D4C2220498A9}" destId="{BBA3BD9F-FB18-4FF6-9356-7E97363A9B57}" srcOrd="6" destOrd="0" presId="urn:microsoft.com/office/officeart/2005/8/layout/default"/>
    <dgm:cxn modelId="{5F2A5CC4-182D-4400-8043-A15106751914}" type="presParOf" srcId="{B60A1295-524B-4A1A-8F3B-D4C2220498A9}" destId="{3DA0656C-9DAF-49CA-9FC6-B468F840019C}" srcOrd="7" destOrd="0" presId="urn:microsoft.com/office/officeart/2005/8/layout/default"/>
    <dgm:cxn modelId="{C975DC8A-0210-42D2-81F5-8E7F5F41A172}" type="presParOf" srcId="{B60A1295-524B-4A1A-8F3B-D4C2220498A9}" destId="{473E5E46-626F-41CC-98E1-B67EA5D23102}" srcOrd="8" destOrd="0" presId="urn:microsoft.com/office/officeart/2005/8/layout/default"/>
    <dgm:cxn modelId="{2B74BC12-8333-4D27-AA65-C093B03F5571}" type="presParOf" srcId="{B60A1295-524B-4A1A-8F3B-D4C2220498A9}" destId="{5FCB353A-2E52-46B5-8DA9-A044B71F4B18}" srcOrd="9" destOrd="0" presId="urn:microsoft.com/office/officeart/2005/8/layout/default"/>
    <dgm:cxn modelId="{B8E86374-E5B7-4634-B9A0-E63DBA8EA6F1}" type="presParOf" srcId="{B60A1295-524B-4A1A-8F3B-D4C2220498A9}" destId="{1FDC3384-ECBE-4AD7-8409-952C0D6F532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7A944-1C66-4310-9B26-7AB111AD8067}">
      <dsp:nvSpPr>
        <dsp:cNvPr id="0" name=""/>
        <dsp:cNvSpPr/>
      </dsp:nvSpPr>
      <dsp:spPr>
        <a:xfrm>
          <a:off x="114483" y="198554"/>
          <a:ext cx="3131396" cy="1878837"/>
        </a:xfrm>
        <a:prstGeom prst="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Number of Transactions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139</a:t>
          </a:r>
          <a:endParaRPr lang="en-US" sz="3000" kern="1200" dirty="0"/>
        </a:p>
      </dsp:txBody>
      <dsp:txXfrm>
        <a:off x="114483" y="198554"/>
        <a:ext cx="3131396" cy="1878837"/>
      </dsp:txXfrm>
    </dsp:sp>
    <dsp:sp modelId="{737749AB-FEDD-49F8-BFE5-9FBCBD597FB5}">
      <dsp:nvSpPr>
        <dsp:cNvPr id="0" name=""/>
        <dsp:cNvSpPr/>
      </dsp:nvSpPr>
      <dsp:spPr>
        <a:xfrm>
          <a:off x="3444536" y="176966"/>
          <a:ext cx="3131396" cy="1878837"/>
        </a:xfrm>
        <a:prstGeom prst="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Number of Selling Items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15</a:t>
          </a:r>
        </a:p>
      </dsp:txBody>
      <dsp:txXfrm>
        <a:off x="3444536" y="176966"/>
        <a:ext cx="3131396" cy="1878837"/>
      </dsp:txXfrm>
    </dsp:sp>
    <dsp:sp modelId="{A6690E3C-8F4C-4EF0-B13F-5486718B5DD2}">
      <dsp:nvSpPr>
        <dsp:cNvPr id="0" name=""/>
        <dsp:cNvSpPr/>
      </dsp:nvSpPr>
      <dsp:spPr>
        <a:xfrm>
          <a:off x="6889072" y="176966"/>
          <a:ext cx="3131396" cy="1878837"/>
        </a:xfrm>
        <a:prstGeom prst="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 Total Sales Amount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1,176,853</a:t>
          </a:r>
          <a:endParaRPr lang="en-US" sz="3000" kern="1200" dirty="0"/>
        </a:p>
      </dsp:txBody>
      <dsp:txXfrm>
        <a:off x="6889072" y="176966"/>
        <a:ext cx="3131396" cy="1878837"/>
      </dsp:txXfrm>
    </dsp:sp>
    <dsp:sp modelId="{BBA3BD9F-FB18-4FF6-9356-7E97363A9B57}">
      <dsp:nvSpPr>
        <dsp:cNvPr id="0" name=""/>
        <dsp:cNvSpPr/>
      </dsp:nvSpPr>
      <dsp:spPr>
        <a:xfrm>
          <a:off x="68640" y="2288116"/>
          <a:ext cx="3131396" cy="1878837"/>
        </a:xfrm>
        <a:prstGeom prst="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Total Quantity of Items Sold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51,187</a:t>
          </a:r>
          <a:endParaRPr lang="en-US" sz="3000" kern="1200" dirty="0"/>
        </a:p>
      </dsp:txBody>
      <dsp:txXfrm>
        <a:off x="68640" y="2288116"/>
        <a:ext cx="3131396" cy="1878837"/>
      </dsp:txXfrm>
    </dsp:sp>
    <dsp:sp modelId="{473E5E46-626F-41CC-98E1-B67EA5D23102}">
      <dsp:nvSpPr>
        <dsp:cNvPr id="0" name=""/>
        <dsp:cNvSpPr/>
      </dsp:nvSpPr>
      <dsp:spPr>
        <a:xfrm>
          <a:off x="3460976" y="2316750"/>
          <a:ext cx="3131396" cy="1878837"/>
        </a:xfrm>
        <a:prstGeom prst="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Products with Zero Sales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0</a:t>
          </a:r>
          <a:endParaRPr lang="en-US" sz="3000" kern="1200" dirty="0"/>
        </a:p>
      </dsp:txBody>
      <dsp:txXfrm>
        <a:off x="3460976" y="2316750"/>
        <a:ext cx="3131396" cy="1878837"/>
      </dsp:txXfrm>
    </dsp:sp>
    <dsp:sp modelId="{1FDC3384-ECBE-4AD7-8409-952C0D6F5323}">
      <dsp:nvSpPr>
        <dsp:cNvPr id="0" name=""/>
        <dsp:cNvSpPr/>
      </dsp:nvSpPr>
      <dsp:spPr>
        <a:xfrm>
          <a:off x="6889072" y="2301587"/>
          <a:ext cx="3131396" cy="1878837"/>
        </a:xfrm>
        <a:prstGeom prst="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 Products with Negative Sales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0</a:t>
          </a:r>
          <a:endParaRPr lang="en-US" sz="3000" kern="1200" dirty="0"/>
        </a:p>
      </dsp:txBody>
      <dsp:txXfrm>
        <a:off x="6889072" y="2301587"/>
        <a:ext cx="3131396" cy="18788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5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12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1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5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44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5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9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4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0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7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C1DD6-3215-4DDA-946D-DF5F3FBF3F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0EB95-4EE2-4C16-8644-A4C93EBD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99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9058-94C4-488B-B3D7-B93444954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71800"/>
            <a:ext cx="9144000" cy="11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Data-Driven Growth Strategy: 2023-2025 Sales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09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A694-6B3A-438B-AB59-98ACE43B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30454"/>
          </a:xfrm>
        </p:spPr>
        <p:txBody>
          <a:bodyPr>
            <a:normAutofit/>
          </a:bodyPr>
          <a:lstStyle/>
          <a:p>
            <a:r>
              <a:rPr lang="en-US" sz="3500" dirty="0"/>
              <a:t>Key </a:t>
            </a:r>
            <a:r>
              <a:rPr lang="en-US" sz="3500"/>
              <a:t>point indicators </a:t>
            </a:r>
            <a:endParaRPr lang="en-US" sz="3500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408A26D-C294-4FA1-93C1-0108636E01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19825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EB7011CD-9E37-454F-8E0C-9B0FED5282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07443"/>
              </p:ext>
            </p:extLst>
          </p:nvPr>
        </p:nvGraphicFramePr>
        <p:xfrm>
          <a:off x="1026942" y="1814731"/>
          <a:ext cx="10020469" cy="4424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71528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9C27-CE08-4A3F-B7DA-B82259C6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0538E-E689-469B-B2C6-9D5357BBF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b="1" dirty="0"/>
              <a:t>Key Insights at a Glance</a:t>
            </a:r>
          </a:p>
          <a:p>
            <a:r>
              <a:rPr lang="en-US" sz="2600" b="1" dirty="0"/>
              <a:t>Revenue drivers</a:t>
            </a:r>
            <a:r>
              <a:rPr lang="en-US" sz="2600" dirty="0"/>
              <a:t>: High-frequency, necessity-based products → stable demand, low seasonality risk, high price sensitivity</a:t>
            </a:r>
          </a:p>
          <a:p>
            <a:r>
              <a:rPr lang="en-US" sz="2600" b="1" dirty="0"/>
              <a:t>Customer concentration</a:t>
            </a:r>
            <a:r>
              <a:rPr lang="en-US" sz="2600" dirty="0"/>
              <a:t>: Top-tier customers drive majority of revenue → need for acquisition and retention strategies</a:t>
            </a:r>
          </a:p>
          <a:p>
            <a:r>
              <a:rPr lang="en-US" sz="2600" b="1" dirty="0"/>
              <a:t>Regional disparities</a:t>
            </a:r>
            <a:r>
              <a:rPr lang="en-US" sz="2600" dirty="0"/>
              <a:t>: Significant performance gaps between regions → opportunity to replicate success</a:t>
            </a:r>
          </a:p>
          <a:p>
            <a:r>
              <a:rPr lang="en-US" sz="2600" b="1" dirty="0"/>
              <a:t>Seasonal patterns</a:t>
            </a:r>
            <a:r>
              <a:rPr lang="en-US" sz="2600" dirty="0"/>
              <a:t>: Recurring dips in June and December require targeted interventions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140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03182-3D07-43A1-B4F3-9AD530B7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items by sales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76AB80-B44E-472B-82A3-3B0CA3ED9A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780030"/>
            <a:ext cx="5225901" cy="364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1E29D8-AE84-47C2-8F75-57A598B12C85}"/>
              </a:ext>
            </a:extLst>
          </p:cNvPr>
          <p:cNvSpPr txBox="1"/>
          <p:nvPr/>
        </p:nvSpPr>
        <p:spPr>
          <a:xfrm>
            <a:off x="6315740" y="1659285"/>
            <a:ext cx="45014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Revenue is heavily driven by high-frequency, necessity-based products, not discretionary goods. This signals: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Stable baseline demand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Low seasonality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High price sensitivity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C4EB5-6C70-4DB6-92A4-4251F995A597}"/>
              </a:ext>
            </a:extLst>
          </p:cNvPr>
          <p:cNvSpPr txBox="1"/>
          <p:nvPr/>
        </p:nvSpPr>
        <p:spPr>
          <a:xfrm>
            <a:off x="685801" y="5826642"/>
            <a:ext cx="1013142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Action Required: </a:t>
            </a:r>
            <a:r>
              <a:rPr lang="en-US" sz="2600" dirty="0"/>
              <a:t>Optimize margins on key items to compete aggressively on price without sacrificing profitability.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09563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FFDCF-B547-409A-8B19-C66D941C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customers by sales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0B623C-C33A-43FF-9607-72BA4744D4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2" y="2065867"/>
            <a:ext cx="5587407" cy="364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D7F331-A17E-4873-A72D-ADDF5FAB8E7F}"/>
              </a:ext>
            </a:extLst>
          </p:cNvPr>
          <p:cNvSpPr txBox="1"/>
          <p:nvPr/>
        </p:nvSpPr>
        <p:spPr>
          <a:xfrm>
            <a:off x="6613450" y="2065867"/>
            <a:ext cx="48927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• </a:t>
            </a:r>
            <a:r>
              <a:rPr lang="en-US" sz="2800" b="1" dirty="0"/>
              <a:t>Revenue is heavily concentrated among top-tier customers</a:t>
            </a:r>
          </a:p>
          <a:p>
            <a:pPr lvl="1"/>
            <a:r>
              <a:rPr lang="en-US" sz="2800" b="1" dirty="0"/>
              <a:t>Risk: Vulnerability to churn among high-value accounts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3FC4F-8EA0-4610-BBFC-1E800BE33FE4}"/>
              </a:ext>
            </a:extLst>
          </p:cNvPr>
          <p:cNvSpPr txBox="1"/>
          <p:nvPr/>
        </p:nvSpPr>
        <p:spPr>
          <a:xfrm>
            <a:off x="685801" y="5802124"/>
            <a:ext cx="1064850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Action required: Implement cluster-based product recommendations &amp; accelerate new customer acquisition to diversify revenue base</a:t>
            </a:r>
          </a:p>
        </p:txBody>
      </p:sp>
    </p:spTree>
    <p:extLst>
      <p:ext uri="{BB962C8B-B14F-4D97-AF65-F5344CB8AC3E}">
        <p14:creationId xmlns:p14="http://schemas.microsoft.com/office/powerpoint/2010/main" val="208063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6888-8E2B-4E90-A47E-31E7B19D4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sales distribution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A590B4E-4D99-4056-8E76-A6C90D0824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150088"/>
            <a:ext cx="3765304" cy="364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89C737-AE6F-4A20-A0CE-11A301AF61CA}"/>
              </a:ext>
            </a:extLst>
          </p:cNvPr>
          <p:cNvSpPr txBox="1"/>
          <p:nvPr/>
        </p:nvSpPr>
        <p:spPr>
          <a:xfrm>
            <a:off x="6315740" y="2150088"/>
            <a:ext cx="51904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• Regional performance variance not clearly quantified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16B96-647C-4E4F-97E7-0546BEA9E047}"/>
              </a:ext>
            </a:extLst>
          </p:cNvPr>
          <p:cNvSpPr txBox="1"/>
          <p:nvPr/>
        </p:nvSpPr>
        <p:spPr>
          <a:xfrm>
            <a:off x="685801" y="5802124"/>
            <a:ext cx="10286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Action required:  replicate success from high-performing regions and diagnose failures in low-performing ones.</a:t>
            </a:r>
          </a:p>
        </p:txBody>
      </p:sp>
    </p:spTree>
    <p:extLst>
      <p:ext uri="{BB962C8B-B14F-4D97-AF65-F5344CB8AC3E}">
        <p14:creationId xmlns:p14="http://schemas.microsoft.com/office/powerpoint/2010/main" val="99554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DB9B-465E-490D-B675-8A65B5CC1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Basket Analysis: Which Products Come Together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D37B8-A96C-4A49-85AD-4DA05E09C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B0D62-1DB1-4617-83A5-4BF97FE37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142067"/>
            <a:ext cx="6044658" cy="362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6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9B76-0829-4D4A-8415-407ECCA2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clustering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4D844C-5AE5-49FF-AA08-FC0E60C1D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71E241-E3D2-456E-8D53-BCF7D2495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178162"/>
            <a:ext cx="3219899" cy="361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8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1D74-F02A-4CF7-8773-15AAAE44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Cluster-based recommended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8E771-B030-4911-924C-8876C470A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590776" cy="36491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Loyal / Platinum Customers</a:t>
            </a:r>
          </a:p>
          <a:p>
            <a:pPr marL="0" indent="0">
              <a:buNone/>
            </a:pPr>
            <a:r>
              <a:rPr lang="en-US" b="1" dirty="0"/>
              <a:t>Role:</a:t>
            </a:r>
            <a:r>
              <a:rPr lang="en-US" dirty="0"/>
              <a:t> Profit Engine</a:t>
            </a:r>
            <a:br>
              <a:rPr lang="en-US" dirty="0"/>
            </a:br>
            <a:r>
              <a:rPr lang="en-US" b="1" dirty="0"/>
              <a:t>Objective:</a:t>
            </a:r>
            <a:r>
              <a:rPr lang="en-US" dirty="0"/>
              <a:t> Protect &amp; Maximize LTV</a:t>
            </a:r>
          </a:p>
          <a:p>
            <a:pPr marL="0" indent="0">
              <a:buNone/>
            </a:pPr>
            <a:r>
              <a:rPr lang="en-US" b="1" dirty="0"/>
              <a:t>Strategic Actions</a:t>
            </a:r>
            <a:endParaRPr lang="en-US" dirty="0"/>
          </a:p>
          <a:p>
            <a:r>
              <a:rPr lang="en-US" dirty="0"/>
              <a:t>VIP loyalty tier &amp; exclusives</a:t>
            </a:r>
          </a:p>
          <a:p>
            <a:r>
              <a:rPr lang="en-US" dirty="0"/>
              <a:t>Premium cross-sell bundles (MBA-driven)</a:t>
            </a:r>
          </a:p>
          <a:p>
            <a:r>
              <a:rPr lang="en-US" dirty="0"/>
              <a:t>Early access to new launches</a:t>
            </a:r>
          </a:p>
          <a:p>
            <a:r>
              <a:rPr lang="en-US" dirty="0"/>
              <a:t>Minimize unnecessary discounting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158CEF-7895-46A7-B624-7E1640414A94}"/>
              </a:ext>
            </a:extLst>
          </p:cNvPr>
          <p:cNvSpPr txBox="1"/>
          <p:nvPr/>
        </p:nvSpPr>
        <p:spPr>
          <a:xfrm>
            <a:off x="4507504" y="2142067"/>
            <a:ext cx="31734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At-Risk Customers</a:t>
            </a:r>
          </a:p>
          <a:p>
            <a:r>
              <a:rPr lang="en-US" b="1" dirty="0"/>
              <a:t>Role:</a:t>
            </a:r>
            <a:r>
              <a:rPr lang="en-US" dirty="0"/>
              <a:t> Revenue at Risk</a:t>
            </a:r>
            <a:br>
              <a:rPr lang="en-US" dirty="0"/>
            </a:br>
            <a:r>
              <a:rPr lang="en-US" b="1" dirty="0"/>
              <a:t>Objective:</a:t>
            </a:r>
            <a:r>
              <a:rPr lang="en-US" dirty="0"/>
              <a:t> Reactivate &amp; Prevent Churn</a:t>
            </a:r>
          </a:p>
          <a:p>
            <a:r>
              <a:rPr lang="en-US" b="1" dirty="0"/>
              <a:t>Strategic Actions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Trigger-based win-back campaigns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offers from past baskets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Limited-time incentives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Churn cause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98C3C-48AA-4A89-AB0E-6527F128007D}"/>
              </a:ext>
            </a:extLst>
          </p:cNvPr>
          <p:cNvSpPr txBox="1"/>
          <p:nvPr/>
        </p:nvSpPr>
        <p:spPr>
          <a:xfrm>
            <a:off x="8018584" y="2142067"/>
            <a:ext cx="38264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Occasional / Lost Customers</a:t>
            </a:r>
          </a:p>
          <a:p>
            <a:r>
              <a:rPr lang="en-US" b="1" dirty="0"/>
              <a:t>Role:</a:t>
            </a:r>
            <a:r>
              <a:rPr lang="en-US" dirty="0"/>
              <a:t> Selective Growth Opportunity</a:t>
            </a:r>
            <a:br>
              <a:rPr lang="en-US" dirty="0"/>
            </a:br>
            <a:r>
              <a:rPr lang="en-US" b="1" dirty="0"/>
              <a:t>Objective:</a:t>
            </a:r>
            <a:r>
              <a:rPr lang="en-US" dirty="0"/>
              <a:t> Increase Engagement or Optimize Spend</a:t>
            </a:r>
          </a:p>
          <a:p>
            <a:r>
              <a:rPr lang="en-US" b="1" dirty="0"/>
              <a:t>Strategic Actions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Entry-level bundles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nurture campaigns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Frequency-building offers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spend on low-potential users</a:t>
            </a:r>
          </a:p>
        </p:txBody>
      </p:sp>
    </p:spTree>
    <p:extLst>
      <p:ext uri="{BB962C8B-B14F-4D97-AF65-F5344CB8AC3E}">
        <p14:creationId xmlns:p14="http://schemas.microsoft.com/office/powerpoint/2010/main" val="172169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F871-9EDB-4203-A418-187ADED3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sales by year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E2FF367-0046-4062-844E-4F9DA09679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430296"/>
            <a:ext cx="5566143" cy="364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F8D794-92BD-49AB-977D-05A112898887}"/>
              </a:ext>
            </a:extLst>
          </p:cNvPr>
          <p:cNvSpPr txBox="1"/>
          <p:nvPr/>
        </p:nvSpPr>
        <p:spPr>
          <a:xfrm>
            <a:off x="6996223" y="1637414"/>
            <a:ext cx="467996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Observations: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Structural peaks: </a:t>
            </a:r>
            <a:r>
              <a:rPr lang="en-US" sz="2800" b="1" dirty="0"/>
              <a:t>March–May</a:t>
            </a:r>
            <a:r>
              <a:rPr lang="en-US" sz="2800" dirty="0"/>
              <a:t> and </a:t>
            </a:r>
            <a:r>
              <a:rPr lang="en-US" sz="2800" b="1" dirty="0"/>
              <a:t>August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June underperforms</a:t>
            </a:r>
            <a:r>
              <a:rPr lang="en-US" sz="2800" dirty="0"/>
              <a:t> consistently across all three years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2025 shows </a:t>
            </a:r>
            <a:r>
              <a:rPr lang="en-US" sz="2800" b="1" dirty="0"/>
              <a:t>strong Q1 acceleration</a:t>
            </a:r>
            <a:r>
              <a:rPr lang="en-US" sz="2800" dirty="0"/>
              <a:t>, but </a:t>
            </a:r>
            <a:r>
              <a:rPr lang="en-US" sz="2800" b="1" dirty="0"/>
              <a:t>weaker Q4 finish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Revenue volatility increasing year-over-year</a:t>
            </a:r>
          </a:p>
        </p:txBody>
      </p:sp>
    </p:spTree>
    <p:extLst>
      <p:ext uri="{BB962C8B-B14F-4D97-AF65-F5344CB8AC3E}">
        <p14:creationId xmlns:p14="http://schemas.microsoft.com/office/powerpoint/2010/main" val="983554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CD36-6BA6-4BCB-BAFA-4B79AEF4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cause analysis (why did sales decline in June in all three years?)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674A3F-1702-467D-9F7A-D0653AF1B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065867"/>
            <a:ext cx="6565604" cy="30015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32657-22F0-4599-920D-35371EDAE755}"/>
              </a:ext>
            </a:extLst>
          </p:cNvPr>
          <p:cNvSpPr txBox="1"/>
          <p:nvPr/>
        </p:nvSpPr>
        <p:spPr>
          <a:xfrm>
            <a:off x="7634177" y="1641187"/>
            <a:ext cx="3872022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June shows volume collapse. Analysis suggests the June dip is a </a:t>
            </a:r>
            <a:r>
              <a:rPr lang="en-US" sz="2800" b="1" dirty="0"/>
              <a:t>post-promotional slump</a:t>
            </a:r>
            <a:r>
              <a:rPr lang="en-US" sz="2800" dirty="0"/>
              <a:t>. Heavy discounting in March–May depletes demand and conditions customers to only buy on sale. </a:t>
            </a:r>
          </a:p>
          <a:p>
            <a:endParaRPr lang="en-US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54F2E-BCF4-4579-8C09-D4784B848B6D}"/>
              </a:ext>
            </a:extLst>
          </p:cNvPr>
          <p:cNvSpPr txBox="1"/>
          <p:nvPr/>
        </p:nvSpPr>
        <p:spPr>
          <a:xfrm>
            <a:off x="-1" y="5465135"/>
            <a:ext cx="725140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Action Required:</a:t>
            </a:r>
          </a:p>
          <a:p>
            <a:r>
              <a:rPr lang="en-US" sz="2600" dirty="0"/>
              <a:t>Promotions affecting quantity by recommending complimentary products at promotive prices</a:t>
            </a:r>
          </a:p>
        </p:txBody>
      </p:sp>
    </p:spTree>
    <p:extLst>
      <p:ext uri="{BB962C8B-B14F-4D97-AF65-F5344CB8AC3E}">
        <p14:creationId xmlns:p14="http://schemas.microsoft.com/office/powerpoint/2010/main" val="2086540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4E6C-5577-4694-A915-F085474AA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cause analysis (why did sales decline in December in all three years?)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98541-3763-4626-BDA2-B8D3FFC8A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860066"/>
            <a:ext cx="5991446" cy="32611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7D1923-2DC2-4E0B-8BC0-CBE157C2A6EC}"/>
              </a:ext>
            </a:extLst>
          </p:cNvPr>
          <p:cNvSpPr txBox="1"/>
          <p:nvPr/>
        </p:nvSpPr>
        <p:spPr>
          <a:xfrm>
            <a:off x="7033846" y="1821235"/>
            <a:ext cx="4206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December shows a collapse of number of customers ordering which is </a:t>
            </a:r>
            <a:r>
              <a:rPr lang="en-US" sz="2800" dirty="0" err="1"/>
              <a:t>is</a:t>
            </a:r>
            <a:r>
              <a:rPr lang="en-US" sz="2800" dirty="0"/>
              <a:t> likely due to </a:t>
            </a:r>
            <a:r>
              <a:rPr lang="en-US" sz="2800" b="1" dirty="0"/>
              <a:t>budget exhaustion and holiday focus</a:t>
            </a:r>
            <a:r>
              <a:rPr lang="en-US" sz="2800" dirty="0"/>
              <a:t>. Our B2B clients have spent their yearly budget, and individual buyers are focused on personal/family time, not our product category.</a:t>
            </a:r>
          </a:p>
          <a:p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C8CEE-A681-4E95-9AC5-F9DDAF0B17C7}"/>
              </a:ext>
            </a:extLst>
          </p:cNvPr>
          <p:cNvSpPr txBox="1"/>
          <p:nvPr/>
        </p:nvSpPr>
        <p:spPr>
          <a:xfrm>
            <a:off x="76881" y="5165229"/>
            <a:ext cx="677866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Action Required: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End-of-The-Year promotions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Diversifying the customer base by expanding presence in public exhibitions</a:t>
            </a:r>
          </a:p>
        </p:txBody>
      </p:sp>
    </p:spTree>
    <p:extLst>
      <p:ext uri="{BB962C8B-B14F-4D97-AF65-F5344CB8AC3E}">
        <p14:creationId xmlns:p14="http://schemas.microsoft.com/office/powerpoint/2010/main" val="1962538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914</TotalTime>
  <Words>496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Data-Driven Growth Strategy: 2023-2025 Sales Analysis</vt:lpstr>
      <vt:lpstr>Key point indicators </vt:lpstr>
      <vt:lpstr>Executive summary</vt:lpstr>
      <vt:lpstr>Top items by sales</vt:lpstr>
      <vt:lpstr>Top customers by sales</vt:lpstr>
      <vt:lpstr>Regional sales distribution</vt:lpstr>
      <vt:lpstr>Market Basket Analysis: Which Products Come Together</vt:lpstr>
      <vt:lpstr>Customer clustering</vt:lpstr>
      <vt:lpstr>Cluster-based recommended actions</vt:lpstr>
      <vt:lpstr>Monthly sales by year</vt:lpstr>
      <vt:lpstr>Root cause analysis (why did sales decline in June in all three years?)</vt:lpstr>
      <vt:lpstr>Root cause analysis (why did sales decline in December in all three years?)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creator>h t</dc:creator>
  <cp:lastModifiedBy>h t</cp:lastModifiedBy>
  <cp:revision>16</cp:revision>
  <dcterms:created xsi:type="dcterms:W3CDTF">2026-02-21T13:24:14Z</dcterms:created>
  <dcterms:modified xsi:type="dcterms:W3CDTF">2026-03-09T09:04:31Z</dcterms:modified>
</cp:coreProperties>
</file>